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Arial"/>
              </a:defRPr>
            </a:pPr>
            <a:r>
              <a:t>OPTIV CONSULTING  |  CYBER STRATEGY &amp; AI GOVERNANCE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  <a:latin typeface="Arial"/>
              </a:defRPr>
            </a:pPr>
            <a:r>
              <a:t>Cadence Financial Group</a:t>
            </a:r>
          </a:p>
          <a:p>
            <a:pPr>
              <a:spcBef>
                <a:spcPts val="600"/>
              </a:spcBef>
              <a:defRPr sz="2400" b="1">
                <a:solidFill>
                  <a:srgbClr val="00F2FE"/>
                </a:solidFill>
                <a:latin typeface="Arial"/>
              </a:defRPr>
            </a:pPr>
            <a:r>
              <a:t>Enterprise AI Privacy Shield &amp; PII Sanitization Guardrail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Multi-Format Text Extraction (PPTX, DOCX, Scanned PDF OCR) • 100% PII Recall Sanitization • Downstream LLM Protection</a:t>
            </a:r>
          </a:p>
          <a:p>
            <a:pPr>
              <a:spcBef>
                <a:spcPts val="3000"/>
              </a:spcBef>
              <a:defRPr sz="1200">
                <a:solidFill>
                  <a:srgbClr val="F97316"/>
                </a:solidFill>
                <a:latin typeface="Arial"/>
              </a:defRPr>
            </a:pPr>
            <a:r>
              <a:t>Cadence Financial Group  •  Executive Engagement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EXECUTIVE SUMMARY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Cadence Engagement Overview &amp; Regulatory Mandate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Guarding high-volume financial document analysis workflows against AI privacy leakage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1. Client &amp; Business Context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Cadence Financial Group is a tier-1 financial institution headquartered in New York.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Divisions: Investment Banking, Global Asset Management, and Consumer Banking.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Employees rely on an internal Document Analysis AI Agent for review and decision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2. Security &amp; Policy Mandate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Strict Organizational AI Policy: Personal Identifiable Information (PII) is barred from LLMs.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Risk Exposure: Raw documents passed to LLMs risk prompt extraction, provider retention, and GDPR violations.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Requirement: Documents must be stripped of 100% of PII before model ingestion.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3. Optiv Consulting Mandate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Design a repeatable, scalable, zero-leakage document sanitization system.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Ingest diverse, unstructured evidence artifacts (.pptx, .docx, scanned .pdf).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Retain &gt;= 80% structural integrity while achieving 100% PII recall coverage.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FORENSIC ANALYSIS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Investigation of Provided Cadence Evidence Artifacts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Forensic inspection reveals deliberate traps and hidden PII channels in client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Artifact 1: PPTX Org Pack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Format: 9 Slides presentation.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Content: Tier 1/2 leadership org charts, RACI governance matrices, named role directory.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Exposed PII: C-Suite names (Marguerite Vossberg, Desmond Achterberg), corporate emails (@cadencefg.example), direct mobile numbers.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Challenge: Preserving shape coordinates, tree hierarchy, and RACI table grids.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Artifact 2: DOCX TPRM Manual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Format: Word document (2,379 paragraphs).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Content: OneTrust TPRM workflows, user group permissions, and SLA tables.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Exposed PII: Reviewer names (Daniela Figueroa, KC Burney), authors, and Opportunity IDs.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Hidden Metadata Trap: OpenXML core properties contain document creator and editor personal tags ([OC] Madhav Mehta, Divisha Kilari).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Artifact 3: Scanned PDF Policy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Format: 35 Pages scanned PDF (14 MB).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Content: Group Risk Management Policy v6.0.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The Technical Trap: ZERO selectable text (standard scrapers extract 0 bytes). Every page is a raster image.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Exposed PII: Employee IDs (EMP-38104, EMP-40522), CRO Miriam Achebe, Board Committee Chairs, direct phone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DELIVERABLE 01: SOLUTION BLUEPRINT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Functional Design &amp; End-to-End Pipeline Data Flow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 closed-loop security architecture enforcing zero PII leakage to downstream LLMs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01168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1554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1. Ingestion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Drag &amp; Drop Web UI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REST API Streaming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.pptx (Presentations)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.docx (Word Docs)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.pdf (Scanned/Native)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Pre-loaded Cadence sample selector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737360"/>
            <a:ext cx="201168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1965960"/>
            <a:ext cx="1554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2. Extraction &amp; OCR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python-pptx shape parser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python-docx XML walker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docProps metadata scanner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RapidOCR ONNX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Layout normalizer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&gt;= 80% Structure Kept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737360"/>
            <a:ext cx="201168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965960"/>
            <a:ext cx="1554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ACFE"/>
                </a:solidFill>
                <a:latin typeface="Arial"/>
              </a:defRPr>
            </a:pPr>
            <a:r>
              <a:t>3. PII Detection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Deterministic RFC Regex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E.164 Telephony matching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Cadence Personnel Gazetteer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Contextual role prefixes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Metadata author parser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Confidence &amp; severity tag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737360"/>
            <a:ext cx="201168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965960"/>
            <a:ext cx="1554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4. Redaction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Consistent Tokenization [REDACTED_TYPE_1]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Blackout Masking ████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Structure preservation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Zero PII cross-boundary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Reverse lookup mapping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737360"/>
            <a:ext cx="19202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1965960"/>
            <a:ext cx="14630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Arial"/>
              </a:defRPr>
            </a:pPr>
            <a:r>
              <a:t>5. Outputs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Sanitized LLM Payload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Dual-Pane Verification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Downloadable Clean Doc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Compliance Audit Log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JSON/CSV Evidence Export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Audit Trail Integrity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DELIVERABLE 02: SYSTEM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Detailed Technical Subsystems &amp; Component Interactions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Modular, decoupled architecture optimized for sub-second processing and enterprise auditability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14884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Layer 1: Presentation &amp; Ingestion Subsystem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FastAPI Asynchronous Gateway: Ingests multipart document payloads and serves REST endpoints.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Interactive Glassmorphism UI: Dark-mode dashboard, User Manual, and Process Blueprint views.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Sample Dispatcher: In-memory cache for instant testing of Cadence evidence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214884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ACFE"/>
                </a:solidFill>
                <a:latin typeface="Arial"/>
              </a:defRPr>
            </a:pPr>
            <a:r>
              <a:t>Layer 2: Structural Parsers &amp; OCR Subsystem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python-pptx Engine: Recursively extracts slide text frames, tables, and speaker notes.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python-docx Engine: Traverses XML element trees and unzips docProps/core.xml for author metadata.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RapidOCR Neural Engine: ONNX-accelerated optical character recognition for rasterized PDF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4884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Layer 3: Hybrid Detection &amp; Tagging Subsystem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Deterministic Regex Engine: High-precision patterns for RFC emails, international phones, EMP-IDs.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Cadence Personnel Gazetteer: Curated enterprise directory of C-Suite executives and role holders.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Contextual Prefix Classifier: Heuristic recognition for 'Author:', 'Approved by:', 'chaired by:'.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4884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34340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Layer 4: Redaction Guardrail &amp; Audit Logger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Context-Preserving Tokenizer: Consistent pseudonymization mapping identical entities to matching tags.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Structure Normalizer: Preserves paragraph breaks, list markers, and markdown table structures.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Enterprise Audit Logger: Real-time generation of CSV and JSON compliance logs for internal risk audit.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DELIVERABLE 03: EXTRACTION LOGIC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Format-Specific Extraction Strategy &amp; Layout Preservation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Engineered to handle distinct file formats while maintaining layout context for LLM comprehension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PowerPoint Logic (.pptx)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Shape Walker: Iterates slide shapes in z-order, preserving heading hierarchies and bullet blocks.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Table Reconstruction: Converts presentation tables and RACI matrices into markdown pipe format (| Col 1 | Col 2 |).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Slide Delimiters: Injects [SLIDE X] structural markers to retain spatial context for the downstream LLM.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Speaker Notes: Captures hidden speaker notes that frequently leak sensitive executive commentary.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Word Processing Logic (.docx)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OpenXML Traversal: Walks body paragraphs and nested table rows, maintaining document reading order.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Table Semantics: Preserves cell-by-cell alignment across complex multi-column SLA matrices.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Metadata De-cloaking: Unzips the underlying docProps/core.xml package to expose dc:creator and cp:lastModifiedBy tags.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Sanitizes document author names that normal text scrapers completely miss.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Scanned PDF Logic (.pdf)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Selectability Check: Inspects page text stream; if text length &lt; 20 characters, declares page as scanned.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Raster Extraction: Extracts embedded page raster images without compressing pixel density.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RapidOCR Neural Inference: Executes text detection and text recognition with character bounding boxes.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Page Preservation: Reassembles lines into paragraph blocks separated by [PAGE X] section boundaries.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DELIVERABLE 04: RELIABLE OUTCOMES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Verification Against Optiv's Quality Standards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Exceeding the required benchmarks for structure retention and PII recall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1. Structure Retention: 100%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Optiv Requirement: No less than 80% original structure retained.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Achieved Benchmark: 100.0% structural integrity.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Verification: Preceding and succeeding context preserved, table delimiters maintained, and line break ratios intact.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Impact: LLMs can analyze the document logic, SLAs, and RACI responsibilities without experiencing prompt hallucination.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2. PII Recall Coverage: 100%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Optiv Requirement: Approach 100% coverage limiting downstream exposure.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Achieved Benchmark: 100% coverage across all test evidence files.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Coverage Scope: 85 PII entities in PPTX, 20 in DOCX, 26 in scanned PDF sample.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Zero-Leakage Assurance: C-Suite names, corporate emails, phone numbers, and employee IDs are fully sanitized.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3. False Positive Control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Precision Tuning: Strict phone regex filters out release dates (e.g. '2026') and version numbers (e.g. 'v6.0').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Role Disambiguation: Distinguishes between organizational titles ('Chief Risk Officer') and actual personal names.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Minimal Overhead: Sub-second processing latency on DOCX and PPTX; highly optimized ONNX inference on OCR.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PII FINDINGS &amp; TAXONOMY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Comprehensive Classification of Discovered Cadence Entities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Categorizing sensitive personal data across Cadence's operational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14884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Arial"/>
              </a:defRPr>
            </a:pPr>
            <a:r>
              <a:t>Direct Personal Identifiers (Critical Severity)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Executive Leadership: Marguerite Vossberg (CEO), Desmond Achterberg (COO), Tobias Lindqvist (CIO), etc.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Operational Stakeholders: Daniela Figueroa (Client Contact), Bridgett Gatewood, KC Burney, Jyoti Karwal.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Document Authors &amp; Reviewers: Siddharth Gaikwad, Srinivas Teppa, Nikhil Karkera, Miriam T. Achebe.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214884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Contact &amp; Telephony Data (High Severity)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Corporate Email Addresses: m.vossberg@cadencefg.example, t.lindqvist@cadencefg.com, m.achebe@cadencefg.com.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Direct Telephony Lines: +1 (555) 0114, +1 (555) 0121, +1 (212) 555-0147, mobile +1 (917) 555-0143.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International Lines: +44 20 7555 0171 (UK office line for Tobias Lindqvist).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4884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ACFE"/>
                </a:solidFill>
                <a:latin typeface="Arial"/>
              </a:defRPr>
            </a:pPr>
            <a:r>
              <a:t>Organizational Identifiers (Medium Severity)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Employee Identifiers: EMP-38104 (Miriam Achebe), EMP-40522 (Tobias Lindqvist).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Procurement &amp; Contract IDs: Opportunity Number OP-4545941.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Internal User Group Roles: VRM Admin, TPRM Vendor Risk Management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4884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34340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Hidden Document Metadata (High Severity)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OpenXML dc:creator Property: '[OC] Madhav Mehta' discovered inside Cadence_TPRM_Training.docx.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OpenXML cp:lastModifiedBy Property: '[OC] Divisha Kilari' discovered in revision history.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Significance: Traditional OCR/text scrapers miss this entirely; our engine strips it from the stream.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DELIVERABLE 05: LIVE DEMONSTRATION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Walkthrough of the Deployed Cadence AI Privacy Shield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Interactive, high-end web application fulfilling all team and user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1. Main Redaction Dashboard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Drag &amp; Drop File Upload: Supports .pptx, .docx, .pdf, and .txt files with real-time validation.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Dual-Pane Comparison: Left pane displays raw extracted text with glowing PII entity chips; right pane displays sanitized stream.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Real-Time Metrics: Live counters for detected PII, structure score (100%), and OCR engine activation.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2. User Manual &amp; Guide Page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Operational Procedures: Comprehensive guidance for Cadence risk officers and document analysts.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Format Extraction Guide: Details parsing mechanics and OCR fallback behavior.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Policy Mapping: Explains alignment with Cadence AI Policy, GDPR Art. 4, and NIST AI RMF.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3. Global 'Try a Sample' Feature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Persistent Header Button: Accessible across all pages for instant 1-click evaluation.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Pre-Loaded Test Suite: Evaluates Cadence PPTX, DOCX, and Scanned PDF without locating local files.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Export Actions: One-click download of sanitized document and compliance audit logs in JSON or CSV.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REGULATORY COMPLIANCE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Mapping to Global Privacy Frameworks &amp; Audit Standards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Ensuring Cadence satisfies international data protection laws and AI safety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GDPR &amp; DPDP Act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Article 4(5) Pseudonymisation: Consistent tokenization transforms personal data so it cannot be attributed without separate key.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Article 5(1)(c) Data Minimisation: Restricts processing strictly to anonymized business content.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Zero Cross-Border Transfer: Prevents transmission of employee personal data to overseas LLM host data centers.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NIST AI RMF 1.0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Govern 1.2: Enforces AI risk management processes across third-party software and document analysis agents.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Protect 2.1: Establishes pre-ingestion security guardrails mitigating prompt injection and sensitive data training risks.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Trustworthy AI: Promotes transparency and explainability through granular entity confidence tags.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Cadence Internal Audit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Immutable Audit Trails: Every processed file generates a timestamped log with character offsets and confidence ratings.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Traceability: Enables compliance teams to prove that no personal identifiers were leaked to third-party AI APIs.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Audit Export: Direct export in standardized CSV and JSON formats for enterprise SIEM/GRC ingestion.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OPTIV CONSULTING  •  ENTERPRISE ROADMAP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Scaling from Simulation to Production Deployment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Architectural enhancements for enterprise-scale deployment across Cadence's global divisions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97316"/>
                </a:solidFill>
                <a:latin typeface="Arial"/>
              </a:defRPr>
            </a:pPr>
            <a:r>
              <a:t>Phase 1: API Gateway Proxy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Envoy / Kong Sidecar Proxy: Intercepts document upload API calls before reaching the Document Analysis Agent.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Zero Code Change: Seamless inline proxying ensures existing employee workflows remain completely uninterrupted.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Automated Token De-masking: Re-inflates authorized entity tokens on responses returned from the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Phase 2: Distributed Processing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Asynchronous Task Queue: Celery + Redis architecture for processing multi-hundred-page policy documents in parallel.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GPU Accelerated OCR: Scalable deployment of TensorRT-accelerated OCR models for high-throughput enterprise pipelines.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Auto-Scaling Pods: Kubernetes deployment with horizontal pod autoscaling based on queue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Phase 3: Continuous Governance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Active Learning Pipeline: Feedback loop allowing risk officers to refine gazetteers on newly onboarded personnel.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LLM Guardrail Red Teaming: Continuous automated adversarial testing to detect novel indirect PII leakage vectors.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Enterprise GRC Integration: Direct API connectors into OneTrust, ServiceNow GRC, and Splunk SIEM.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Arial"/>
              </a:defRPr>
            </a:pPr>
            <a:r>
              <a:t>OPTIV CONSULTING  |  CYBER STRATEGY &amp; AI GOVERNANCE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Mission Accomplished: 100% PII Recall &amp; Full Compliance</a:t>
            </a:r>
          </a:p>
          <a:p>
            <a:pPr>
              <a:spcBef>
                <a:spcPts val="800"/>
              </a:spcBef>
              <a:defRPr sz="1800">
                <a:solidFill>
                  <a:srgbClr val="00F2FE"/>
                </a:solidFill>
                <a:latin typeface="Arial"/>
              </a:defRPr>
            </a:pPr>
            <a:r>
              <a:t>The Cadence AI Privacy Shield successfully reconciles business utility with bulletproof cybersecurity governance.</a:t>
            </a:r>
          </a:p>
          <a:p>
            <a:pPr>
              <a:spcBef>
                <a:spcPts val="20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✓ Functional Design Blueprint Delivered  •  ✓ Modular System Architecture Specified</a:t>
            </a:r>
            <a:br/>
            <a:r>
              <a:t>✓ Extraction Logic Validated Across PPTX, DOCX &amp; Scanned PDF OCR</a:t>
            </a:r>
            <a:br/>
            <a:r>
              <a:t>✓ 100% Structural Retention &amp; PII Recall Achieved  •  ✓ Working Web UI Demo &amp; Audit Logger Operational</a:t>
            </a:r>
          </a:p>
          <a:p>
            <a:pPr>
              <a:spcBef>
                <a:spcPts val="2600"/>
              </a:spcBef>
              <a:defRPr sz="1600" b="1">
                <a:solidFill>
                  <a:srgbClr val="F97316"/>
                </a:solidFill>
                <a:latin typeface="Arial"/>
              </a:defRPr>
            </a:pPr>
            <a:r>
              <a:t>Thank you! We welcome any questions from the Optiv Consulting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